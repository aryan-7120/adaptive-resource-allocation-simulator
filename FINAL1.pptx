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5" r:id="rId13"/>
  </p:sldIdLst>
  <p:sldSz cx="14630400" cy="8229600"/>
  <p:notesSz cx="8229600" cy="14630400"/>
  <p:embeddedFontLst>
    <p:embeddedFont>
      <p:font typeface="Instrument Sans Medium" panose="020B0604020202020204" charset="0"/>
      <p:regular r:id="rId15"/>
    </p:embeddedFont>
    <p:embeddedFont>
      <p:font typeface="Instrument Sans Semi Bold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6954A04-8204-452A-8E5A-DB8B18710F5C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Untitled Section" id="{4C68C07D-07B3-4B42-9324-4EA74633F658}">
          <p14:sldIdLst>
            <p14:sldId id="266"/>
            <p14:sldId id="267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5" d="100"/>
          <a:sy n="65" d="100"/>
        </p:scale>
        <p:origin x="83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13118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0"/>
            <a:ext cx="768096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801416"/>
            <a:ext cx="5727621" cy="2835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Adaptive Resource Allocation Simulator in Multiprogramming Systems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727257"/>
            <a:ext cx="5727621" cy="17009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 visual demonstration of dynamic resource allocation</a:t>
            </a:r>
            <a:endParaRPr lang="en-US" sz="3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29145"/>
            <a:ext cx="409360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84C1FA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Understanding the Foundation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93790" y="2174200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Introduction to Multiprogramming &amp; Resource Allocation</a:t>
            </a:r>
            <a:endParaRPr lang="en-US" sz="4450" dirty="0"/>
          </a:p>
        </p:txBody>
      </p:sp>
      <p:sp>
        <p:nvSpPr>
          <p:cNvPr id="4" name="Text 2"/>
          <p:cNvSpPr/>
          <p:nvPr/>
        </p:nvSpPr>
        <p:spPr>
          <a:xfrm>
            <a:off x="793790" y="4158734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F578D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Multiprogramming</a:t>
            </a:r>
            <a:endParaRPr lang="en-US" sz="2650" dirty="0"/>
          </a:p>
        </p:txBody>
      </p:sp>
      <p:sp>
        <p:nvSpPr>
          <p:cNvPr id="5" name="Text 3"/>
          <p:cNvSpPr/>
          <p:nvPr/>
        </p:nvSpPr>
        <p:spPr>
          <a:xfrm>
            <a:off x="793790" y="4810839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Allows a single CPU to execute multiple programs concurrently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61594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Creates illusion of parallelism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605813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Improves CPU utilisation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315200" y="4340185"/>
            <a:ext cx="5292328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FF5000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Why Adaptive resource allocation matters:</a:t>
            </a:r>
            <a:endParaRPr lang="en-US" sz="2650" dirty="0"/>
          </a:p>
        </p:txBody>
      </p:sp>
      <p:sp>
        <p:nvSpPr>
          <p:cNvPr id="11" name="Text 9"/>
          <p:cNvSpPr/>
          <p:nvPr/>
        </p:nvSpPr>
        <p:spPr>
          <a:xfrm>
            <a:off x="7315200" y="5003794"/>
            <a:ext cx="6244709" cy="20832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  <a:buSzPct val="100000"/>
            </a:pPr>
            <a:r>
              <a:rPr lang="en-US" sz="1750" dirty="0">
                <a:latin typeface="Instrument Sans Medium" panose="020B0604020202020204" charset="0"/>
              </a:rPr>
              <a:t>The core problem in multiprogramming systems is balancing</a:t>
            </a:r>
          </a:p>
          <a:p>
            <a:pPr>
              <a:lnSpc>
                <a:spcPts val="2850"/>
              </a:lnSpc>
              <a:buSzPct val="100000"/>
            </a:pPr>
            <a:r>
              <a:rPr lang="en-US" sz="1750" dirty="0">
                <a:latin typeface="Instrument Sans Medium" panose="020B0604020202020204" charset="0"/>
              </a:rPr>
              <a:t> resource demand with availability to maintain optimal performance</a:t>
            </a:r>
          </a:p>
          <a:p>
            <a:pPr>
              <a:lnSpc>
                <a:spcPts val="2850"/>
              </a:lnSpc>
              <a:buSzPct val="100000"/>
            </a:pPr>
            <a:r>
              <a:rPr lang="en-US" sz="1750" dirty="0">
                <a:latin typeface="Instrument Sans Medium" panose="020B0604020202020204" charset="0"/>
              </a:rPr>
              <a:t> An adaptive approach ensures that resources are</a:t>
            </a:r>
          </a:p>
          <a:p>
            <a:pPr>
              <a:lnSpc>
                <a:spcPts val="2850"/>
              </a:lnSpc>
              <a:buSzPct val="100000"/>
            </a:pPr>
            <a:r>
              <a:rPr lang="en-US" sz="1750" dirty="0">
                <a:latin typeface="Instrument Sans Medium" panose="020B0604020202020204" charset="0"/>
              </a:rPr>
              <a:t>always distributed to where they are needed most ,</a:t>
            </a:r>
          </a:p>
          <a:p>
            <a:pPr>
              <a:lnSpc>
                <a:spcPts val="2850"/>
              </a:lnSpc>
              <a:buSzPct val="100000"/>
            </a:pPr>
            <a:r>
              <a:rPr lang="en-US" sz="1750" dirty="0">
                <a:latin typeface="Instrument Sans Medium" panose="020B0604020202020204" charset="0"/>
              </a:rPr>
              <a:t>improving overall system responsiveness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3669" y="615791"/>
            <a:ext cx="5598081" cy="699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Project Goal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83669" y="1763316"/>
            <a:ext cx="13063061" cy="447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To visually demonstrate dynamic resource allocation strategies within a multiprogramming system.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83669" y="2574867"/>
            <a:ext cx="13063061" cy="35600"/>
          </a:xfrm>
          <a:prstGeom prst="rect">
            <a:avLst/>
          </a:prstGeom>
          <a:solidFill>
            <a:srgbClr val="1E3063">
              <a:alpha val="5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83669" y="2946321"/>
            <a:ext cx="13063061" cy="1399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The Challenge: Managing Limited System Resources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783669" y="4681657"/>
            <a:ext cx="4205049" cy="2932986"/>
          </a:xfrm>
          <a:prstGeom prst="roundRect">
            <a:avLst>
              <a:gd name="adj" fmla="val 6871"/>
            </a:avLst>
          </a:prstGeom>
          <a:solidFill>
            <a:srgbClr val="84C1FA"/>
          </a:solidFill>
          <a:ln/>
        </p:spPr>
      </p:sp>
      <p:sp>
        <p:nvSpPr>
          <p:cNvPr id="7" name="Text 5"/>
          <p:cNvSpPr/>
          <p:nvPr/>
        </p:nvSpPr>
        <p:spPr>
          <a:xfrm>
            <a:off x="1007507" y="4905494"/>
            <a:ext cx="3757374" cy="839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Processes Compete for Resources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007507" y="5879425"/>
            <a:ext cx="3757374" cy="716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Multiple processes request CPU &amp; memory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1007507" y="6674287"/>
            <a:ext cx="3757374" cy="716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Requires intelligent management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5212556" y="4681657"/>
            <a:ext cx="4205168" cy="2932986"/>
          </a:xfrm>
          <a:prstGeom prst="roundRect">
            <a:avLst>
              <a:gd name="adj" fmla="val 6871"/>
            </a:avLst>
          </a:prstGeom>
          <a:solidFill>
            <a:srgbClr val="0540AD"/>
          </a:solidFill>
          <a:ln/>
        </p:spPr>
      </p:sp>
      <p:sp>
        <p:nvSpPr>
          <p:cNvPr id="11" name="Text 9"/>
          <p:cNvSpPr/>
          <p:nvPr/>
        </p:nvSpPr>
        <p:spPr>
          <a:xfrm>
            <a:off x="5436394" y="4905494"/>
            <a:ext cx="3358872" cy="419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Finite Capacity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436394" y="5459611"/>
            <a:ext cx="3757493" cy="358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CPU: 100%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5436394" y="5896213"/>
            <a:ext cx="3757493" cy="358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Memory: 2048 MB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9641562" y="4681657"/>
            <a:ext cx="4205168" cy="2932986"/>
          </a:xfrm>
          <a:prstGeom prst="roundRect">
            <a:avLst>
              <a:gd name="adj" fmla="val 6871"/>
            </a:avLst>
          </a:prstGeom>
          <a:solidFill>
            <a:srgbClr val="FF5000"/>
          </a:solidFill>
          <a:ln/>
        </p:spPr>
      </p:sp>
      <p:sp>
        <p:nvSpPr>
          <p:cNvPr id="15" name="Text 13"/>
          <p:cNvSpPr/>
          <p:nvPr/>
        </p:nvSpPr>
        <p:spPr>
          <a:xfrm>
            <a:off x="9865400" y="4905494"/>
            <a:ext cx="3757493" cy="839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Need for Adaptive Scheduling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9865400" y="5879425"/>
            <a:ext cx="3757493" cy="358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Dynamically adjusts allocations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9865400" y="6316028"/>
            <a:ext cx="3757493" cy="358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Ensures efficient performance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1029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31029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772358" y="606862"/>
            <a:ext cx="2758678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CDDAFA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System Architecture</a:t>
            </a:r>
            <a:endParaRPr lang="en-US" sz="2150" dirty="0"/>
          </a:p>
        </p:txBody>
      </p:sp>
      <p:sp>
        <p:nvSpPr>
          <p:cNvPr id="5" name="Text 2"/>
          <p:cNvSpPr/>
          <p:nvPr/>
        </p:nvSpPr>
        <p:spPr>
          <a:xfrm>
            <a:off x="772358" y="1282660"/>
            <a:ext cx="10932914" cy="951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450"/>
              </a:lnSpc>
              <a:buNone/>
            </a:pPr>
            <a:r>
              <a:rPr lang="en-US" sz="5950" dirty="0">
                <a:solidFill>
                  <a:srgbClr val="84C1FA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System Architecture Overview</a:t>
            </a:r>
            <a:endParaRPr lang="en-US" sz="5950" dirty="0"/>
          </a:p>
        </p:txBody>
      </p:sp>
      <p:sp>
        <p:nvSpPr>
          <p:cNvPr id="6" name="Text 3"/>
          <p:cNvSpPr/>
          <p:nvPr/>
        </p:nvSpPr>
        <p:spPr>
          <a:xfrm>
            <a:off x="772358" y="2565321"/>
            <a:ext cx="13085683" cy="441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1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Our simulator is divided into </a:t>
            </a:r>
            <a:r>
              <a:rPr lang="en-US" sz="21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three modules</a:t>
            </a:r>
            <a:r>
              <a:rPr lang="en-US" sz="21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:</a:t>
            </a:r>
            <a:endParaRPr lang="en-US" sz="2150" dirty="0"/>
          </a:p>
        </p:txBody>
      </p:sp>
      <p:sp>
        <p:nvSpPr>
          <p:cNvPr id="7" name="Text 4"/>
          <p:cNvSpPr/>
          <p:nvPr/>
        </p:nvSpPr>
        <p:spPr>
          <a:xfrm>
            <a:off x="772358" y="3337679"/>
            <a:ext cx="8199239" cy="689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Module 1: Process Management</a:t>
            </a:r>
            <a:endParaRPr lang="en-US" sz="4300" dirty="0"/>
          </a:p>
        </p:txBody>
      </p:sp>
      <p:sp>
        <p:nvSpPr>
          <p:cNvPr id="8" name="Text 5"/>
          <p:cNvSpPr/>
          <p:nvPr/>
        </p:nvSpPr>
        <p:spPr>
          <a:xfrm>
            <a:off x="772358" y="4115514"/>
            <a:ext cx="3952161" cy="4137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What this module covers: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772358" y="4860250"/>
            <a:ext cx="13085683" cy="3531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Creating processes with CPU and memory requests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772358" y="5290542"/>
            <a:ext cx="13085683" cy="3531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Assigning unique PIDs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772358" y="5720834"/>
            <a:ext cx="13085683" cy="3531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Managing process states (Ready, Running, Waiting, Completed)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772358" y="6151126"/>
            <a:ext cx="13085683" cy="3531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Deleting processes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772358" y="6581418"/>
            <a:ext cx="13085683" cy="3531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Resetting the simulator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772358" y="7182803"/>
            <a:ext cx="13085683" cy="441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150" b="1" dirty="0">
                <a:solidFill>
                  <a:srgbClr val="F578D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Why it's important:</a:t>
            </a:r>
            <a:r>
              <a:rPr lang="en-US" sz="21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Foundation of the simulator — no processes means no allocation.</a:t>
            </a:r>
            <a:endParaRPr lang="en-US" sz="2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4928" y="389823"/>
            <a:ext cx="586156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2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Module 2: Resource Allocation &amp; Scheduling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44928" y="1289761"/>
            <a:ext cx="2030135" cy="304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What this module covers: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96835" y="1766485"/>
            <a:ext cx="7485578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Memory availability checks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96835" y="2100279"/>
            <a:ext cx="7485578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CPU percentage distribution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96835" y="2437642"/>
            <a:ext cx="7485578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Moving processes between Ready/Running/Waiting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96835" y="2749467"/>
            <a:ext cx="7485578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Updating progress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96835" y="3061292"/>
            <a:ext cx="7485578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Ensuring realistic execution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166735" y="1017834"/>
            <a:ext cx="6229203" cy="1497302"/>
          </a:xfrm>
          <a:prstGeom prst="roundRect">
            <a:avLst>
              <a:gd name="adj" fmla="val 13216"/>
            </a:avLst>
          </a:prstGeom>
          <a:solidFill>
            <a:srgbClr val="B5DAFC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0083" y="1377196"/>
            <a:ext cx="177165" cy="14168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570595" y="1364099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dirty="0">
                <a:solidFill>
                  <a:srgbClr val="FF5000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Why it's important:</a:t>
            </a: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8570595" y="1654612"/>
            <a:ext cx="5557123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Makes the simulator "smart" by preventing</a:t>
            </a:r>
          </a:p>
          <a:p>
            <a:pPr marL="0" indent="0" algn="l">
              <a:lnSpc>
                <a:spcPts val="1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resource over-allocation.</a:t>
            </a:r>
            <a:endParaRPr lang="en-US" sz="16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928" y="3745522"/>
            <a:ext cx="6553750" cy="448407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5319" y="507087"/>
            <a:ext cx="8549640" cy="576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6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Module 3: User Interface &amp; Visualization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5319" y="1728668"/>
            <a:ext cx="6577727" cy="1361837"/>
          </a:xfrm>
          <a:prstGeom prst="roundRect">
            <a:avLst>
              <a:gd name="adj" fmla="val 8057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645319" y="1705808"/>
            <a:ext cx="6577727" cy="91440"/>
          </a:xfrm>
          <a:prstGeom prst="roundRect">
            <a:avLst>
              <a:gd name="adj" fmla="val 181498"/>
            </a:avLst>
          </a:prstGeom>
          <a:solidFill>
            <a:srgbClr val="84C1FA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0" y="1452086"/>
            <a:ext cx="553164" cy="553164"/>
          </a:xfrm>
          <a:prstGeom prst="roundRect">
            <a:avLst>
              <a:gd name="adj" fmla="val 165304"/>
            </a:avLst>
          </a:prstGeom>
          <a:solidFill>
            <a:srgbClr val="84C1FA"/>
          </a:solidFill>
          <a:ln/>
        </p:spPr>
      </p:sp>
      <p:sp>
        <p:nvSpPr>
          <p:cNvPr id="6" name="Text 4"/>
          <p:cNvSpPr/>
          <p:nvPr/>
        </p:nvSpPr>
        <p:spPr>
          <a:xfrm>
            <a:off x="3823573" y="1590318"/>
            <a:ext cx="221218" cy="276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52488" y="2189559"/>
            <a:ext cx="2304931" cy="2881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Interface Design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52488" y="2588300"/>
            <a:ext cx="6163389" cy="29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Designing the Tkinter interface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7407354" y="1728668"/>
            <a:ext cx="6577727" cy="1361837"/>
          </a:xfrm>
          <a:prstGeom prst="roundRect">
            <a:avLst>
              <a:gd name="adj" fmla="val 8057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7407354" y="1705808"/>
            <a:ext cx="6577727" cy="91440"/>
          </a:xfrm>
          <a:prstGeom prst="roundRect">
            <a:avLst>
              <a:gd name="adj" fmla="val 181498"/>
            </a:avLst>
          </a:prstGeom>
          <a:solidFill>
            <a:srgbClr val="84C1FA"/>
          </a:solidFill>
          <a:ln/>
        </p:spPr>
      </p:sp>
      <p:sp>
        <p:nvSpPr>
          <p:cNvPr id="11" name="Shape 9"/>
          <p:cNvSpPr/>
          <p:nvPr/>
        </p:nvSpPr>
        <p:spPr>
          <a:xfrm>
            <a:off x="10419636" y="1452086"/>
            <a:ext cx="553164" cy="553164"/>
          </a:xfrm>
          <a:prstGeom prst="roundRect">
            <a:avLst>
              <a:gd name="adj" fmla="val 165304"/>
            </a:avLst>
          </a:prstGeom>
          <a:solidFill>
            <a:srgbClr val="84C1FA"/>
          </a:solidFill>
          <a:ln/>
        </p:spPr>
      </p:sp>
      <p:sp>
        <p:nvSpPr>
          <p:cNvPr id="12" name="Text 10"/>
          <p:cNvSpPr/>
          <p:nvPr/>
        </p:nvSpPr>
        <p:spPr>
          <a:xfrm>
            <a:off x="10585609" y="1590318"/>
            <a:ext cx="221218" cy="276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614523" y="2189559"/>
            <a:ext cx="2304931" cy="2881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Usage Bars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614523" y="2588300"/>
            <a:ext cx="6163389" cy="29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CPU and memory usage bars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45319" y="3551396"/>
            <a:ext cx="6577727" cy="1361837"/>
          </a:xfrm>
          <a:prstGeom prst="roundRect">
            <a:avLst>
              <a:gd name="adj" fmla="val 8057"/>
            </a:avLst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645319" y="3528536"/>
            <a:ext cx="6577727" cy="91440"/>
          </a:xfrm>
          <a:prstGeom prst="roundRect">
            <a:avLst>
              <a:gd name="adj" fmla="val 181498"/>
            </a:avLst>
          </a:prstGeom>
          <a:solidFill>
            <a:srgbClr val="84C1FA"/>
          </a:solidFill>
          <a:ln/>
        </p:spPr>
      </p:sp>
      <p:sp>
        <p:nvSpPr>
          <p:cNvPr id="17" name="Shape 15"/>
          <p:cNvSpPr/>
          <p:nvPr/>
        </p:nvSpPr>
        <p:spPr>
          <a:xfrm>
            <a:off x="3657600" y="3274814"/>
            <a:ext cx="553164" cy="553164"/>
          </a:xfrm>
          <a:prstGeom prst="roundRect">
            <a:avLst>
              <a:gd name="adj" fmla="val 165304"/>
            </a:avLst>
          </a:prstGeom>
          <a:solidFill>
            <a:srgbClr val="84C1FA"/>
          </a:solidFill>
          <a:ln/>
        </p:spPr>
      </p:sp>
      <p:sp>
        <p:nvSpPr>
          <p:cNvPr id="18" name="Text 16"/>
          <p:cNvSpPr/>
          <p:nvPr/>
        </p:nvSpPr>
        <p:spPr>
          <a:xfrm>
            <a:off x="3823573" y="3413046"/>
            <a:ext cx="221218" cy="276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52488" y="4012287"/>
            <a:ext cx="2304931" cy="2881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Process Table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52488" y="4411028"/>
            <a:ext cx="6163389" cy="29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Process table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7407354" y="3551396"/>
            <a:ext cx="6577727" cy="1361837"/>
          </a:xfrm>
          <a:prstGeom prst="roundRect">
            <a:avLst>
              <a:gd name="adj" fmla="val 8057"/>
            </a:avLst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7407354" y="3528536"/>
            <a:ext cx="6577727" cy="91440"/>
          </a:xfrm>
          <a:prstGeom prst="roundRect">
            <a:avLst>
              <a:gd name="adj" fmla="val 181498"/>
            </a:avLst>
          </a:prstGeom>
          <a:solidFill>
            <a:srgbClr val="84C1FA"/>
          </a:solidFill>
          <a:ln/>
        </p:spPr>
      </p:sp>
      <p:sp>
        <p:nvSpPr>
          <p:cNvPr id="23" name="Shape 21"/>
          <p:cNvSpPr/>
          <p:nvPr/>
        </p:nvSpPr>
        <p:spPr>
          <a:xfrm>
            <a:off x="10419636" y="3274814"/>
            <a:ext cx="553164" cy="553164"/>
          </a:xfrm>
          <a:prstGeom prst="roundRect">
            <a:avLst>
              <a:gd name="adj" fmla="val 165304"/>
            </a:avLst>
          </a:prstGeom>
          <a:solidFill>
            <a:srgbClr val="84C1FA"/>
          </a:solidFill>
          <a:ln/>
        </p:spPr>
      </p:sp>
      <p:sp>
        <p:nvSpPr>
          <p:cNvPr id="24" name="Text 22"/>
          <p:cNvSpPr/>
          <p:nvPr/>
        </p:nvSpPr>
        <p:spPr>
          <a:xfrm>
            <a:off x="10585609" y="3413046"/>
            <a:ext cx="221218" cy="276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4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7614523" y="4012287"/>
            <a:ext cx="2304931" cy="2881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Progress Tracking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614523" y="4411028"/>
            <a:ext cx="6163389" cy="29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Progress bars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645319" y="5374124"/>
            <a:ext cx="6577727" cy="1361837"/>
          </a:xfrm>
          <a:prstGeom prst="roundRect">
            <a:avLst>
              <a:gd name="adj" fmla="val 8057"/>
            </a:avLst>
          </a:prstGeom>
          <a:solidFill>
            <a:srgbClr val="FFFFFF"/>
          </a:solidFill>
          <a:ln/>
        </p:spPr>
      </p:sp>
      <p:sp>
        <p:nvSpPr>
          <p:cNvPr id="28" name="Shape 26"/>
          <p:cNvSpPr/>
          <p:nvPr/>
        </p:nvSpPr>
        <p:spPr>
          <a:xfrm>
            <a:off x="645319" y="5351264"/>
            <a:ext cx="6577727" cy="91440"/>
          </a:xfrm>
          <a:prstGeom prst="roundRect">
            <a:avLst>
              <a:gd name="adj" fmla="val 181498"/>
            </a:avLst>
          </a:prstGeom>
          <a:solidFill>
            <a:srgbClr val="84C1FA"/>
          </a:solidFill>
          <a:ln/>
        </p:spPr>
      </p:sp>
      <p:sp>
        <p:nvSpPr>
          <p:cNvPr id="29" name="Shape 27"/>
          <p:cNvSpPr/>
          <p:nvPr/>
        </p:nvSpPr>
        <p:spPr>
          <a:xfrm>
            <a:off x="3657600" y="5097542"/>
            <a:ext cx="553164" cy="553164"/>
          </a:xfrm>
          <a:prstGeom prst="roundRect">
            <a:avLst>
              <a:gd name="adj" fmla="val 165304"/>
            </a:avLst>
          </a:prstGeom>
          <a:solidFill>
            <a:srgbClr val="84C1FA"/>
          </a:solidFill>
          <a:ln/>
        </p:spPr>
      </p:sp>
      <p:sp>
        <p:nvSpPr>
          <p:cNvPr id="30" name="Text 28"/>
          <p:cNvSpPr/>
          <p:nvPr/>
        </p:nvSpPr>
        <p:spPr>
          <a:xfrm>
            <a:off x="3823573" y="5235773"/>
            <a:ext cx="221218" cy="276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5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852488" y="5835015"/>
            <a:ext cx="2304931" cy="2881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Controls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52488" y="6233755"/>
            <a:ext cx="6163389" cy="29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Add/Delete/Reset buttons</a:t>
            </a:r>
            <a:endParaRPr lang="en-US" sz="1450" dirty="0"/>
          </a:p>
        </p:txBody>
      </p:sp>
      <p:sp>
        <p:nvSpPr>
          <p:cNvPr id="33" name="Shape 31"/>
          <p:cNvSpPr/>
          <p:nvPr/>
        </p:nvSpPr>
        <p:spPr>
          <a:xfrm>
            <a:off x="7407354" y="5374124"/>
            <a:ext cx="6577727" cy="1361837"/>
          </a:xfrm>
          <a:prstGeom prst="roundRect">
            <a:avLst>
              <a:gd name="adj" fmla="val 8057"/>
            </a:avLst>
          </a:prstGeom>
          <a:solidFill>
            <a:srgbClr val="FFFFFF"/>
          </a:solidFill>
          <a:ln/>
        </p:spPr>
      </p:sp>
      <p:sp>
        <p:nvSpPr>
          <p:cNvPr id="34" name="Shape 32"/>
          <p:cNvSpPr/>
          <p:nvPr/>
        </p:nvSpPr>
        <p:spPr>
          <a:xfrm>
            <a:off x="7407354" y="5351264"/>
            <a:ext cx="6577727" cy="91440"/>
          </a:xfrm>
          <a:prstGeom prst="roundRect">
            <a:avLst>
              <a:gd name="adj" fmla="val 181498"/>
            </a:avLst>
          </a:prstGeom>
          <a:solidFill>
            <a:srgbClr val="84C1FA"/>
          </a:solidFill>
          <a:ln/>
        </p:spPr>
      </p:sp>
      <p:sp>
        <p:nvSpPr>
          <p:cNvPr id="35" name="Shape 33"/>
          <p:cNvSpPr/>
          <p:nvPr/>
        </p:nvSpPr>
        <p:spPr>
          <a:xfrm>
            <a:off x="10419636" y="5097542"/>
            <a:ext cx="553164" cy="553164"/>
          </a:xfrm>
          <a:prstGeom prst="roundRect">
            <a:avLst>
              <a:gd name="adj" fmla="val 165304"/>
            </a:avLst>
          </a:prstGeom>
          <a:solidFill>
            <a:srgbClr val="84C1FA"/>
          </a:solidFill>
          <a:ln/>
        </p:spPr>
      </p:sp>
      <p:sp>
        <p:nvSpPr>
          <p:cNvPr id="36" name="Text 34"/>
          <p:cNvSpPr/>
          <p:nvPr/>
        </p:nvSpPr>
        <p:spPr>
          <a:xfrm>
            <a:off x="10585609" y="5235773"/>
            <a:ext cx="221218" cy="276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6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7614523" y="5835015"/>
            <a:ext cx="2304931" cy="2881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Live Updates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7614523" y="6233755"/>
            <a:ext cx="6163389" cy="29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Real-time updates</a:t>
            </a:r>
            <a:endParaRPr lang="en-US" sz="1450" dirty="0"/>
          </a:p>
        </p:txBody>
      </p:sp>
      <p:sp>
        <p:nvSpPr>
          <p:cNvPr id="39" name="Text 37"/>
          <p:cNvSpPr/>
          <p:nvPr/>
        </p:nvSpPr>
        <p:spPr>
          <a:xfrm>
            <a:off x="921901" y="7150775"/>
            <a:ext cx="13063180" cy="368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b="1" dirty="0">
                <a:solidFill>
                  <a:srgbClr val="0540AD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Why it's important:</a:t>
            </a:r>
            <a:r>
              <a:rPr lang="en-US" sz="18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Makes the simulation interactive and understandable.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645319" y="6943368"/>
            <a:ext cx="22860" cy="783550"/>
          </a:xfrm>
          <a:prstGeom prst="rect">
            <a:avLst/>
          </a:prstGeom>
          <a:solidFill>
            <a:srgbClr val="84C1FA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9926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84C1FA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Process Lifecycle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93790" y="1244322"/>
            <a:ext cx="807374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Understanding Process States</a:t>
            </a:r>
            <a:endParaRPr lang="en-US" sz="4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293263"/>
            <a:ext cx="6521410" cy="9072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20604" y="342733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Ready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0604" y="3917752"/>
            <a:ext cx="606778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Waiting for CPU/memory</a:t>
            </a:r>
            <a:endParaRPr lang="en-US" sz="17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2293263"/>
            <a:ext cx="6521410" cy="90725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542014" y="342733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Running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7542014" y="3917752"/>
            <a:ext cx="606778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Actively executing</a:t>
            </a:r>
            <a:endParaRPr lang="en-US" sz="17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4507468"/>
            <a:ext cx="6521410" cy="90725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20604" y="564153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Waiting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1020604" y="6131957"/>
            <a:ext cx="606778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Paused due to unavailable resources</a:t>
            </a:r>
            <a:endParaRPr lang="en-US" sz="17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507468"/>
            <a:ext cx="6521410" cy="90725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542014" y="564153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Completed</a:t>
            </a:r>
            <a:endParaRPr lang="en-US" sz="2200" dirty="0"/>
          </a:p>
        </p:txBody>
      </p:sp>
      <p:sp>
        <p:nvSpPr>
          <p:cNvPr id="15" name="Text 9"/>
          <p:cNvSpPr/>
          <p:nvPr/>
        </p:nvSpPr>
        <p:spPr>
          <a:xfrm>
            <a:off x="7542014" y="6131957"/>
            <a:ext cx="606778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Finished execution and released resources</a:t>
            </a:r>
            <a:endParaRPr lang="en-US" sz="1750" dirty="0"/>
          </a:p>
        </p:txBody>
      </p:sp>
      <p:sp>
        <p:nvSpPr>
          <p:cNvPr id="16" name="Text 10"/>
          <p:cNvSpPr/>
          <p:nvPr/>
        </p:nvSpPr>
        <p:spPr>
          <a:xfrm>
            <a:off x="793790" y="6976824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State transitions occur based on CPU and memory availability.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144697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45950" y="885706"/>
            <a:ext cx="719066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578D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Adaptive Allocation Algorithm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645950" y="2393990"/>
            <a:ext cx="3899654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84C1FA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Memory Allocation Rule:</a:t>
            </a:r>
            <a:endParaRPr lang="en-US" sz="2650" dirty="0"/>
          </a:p>
        </p:txBody>
      </p:sp>
      <p:sp>
        <p:nvSpPr>
          <p:cNvPr id="5" name="Text 2"/>
          <p:cNvSpPr/>
          <p:nvPr/>
        </p:nvSpPr>
        <p:spPr>
          <a:xfrm>
            <a:off x="6645950" y="3159443"/>
            <a:ext cx="719066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Process runs only if full memory is available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645950" y="3862507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FF5000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CPU Allocation Rule:</a:t>
            </a:r>
            <a:endParaRPr lang="en-US" sz="2650" dirty="0"/>
          </a:p>
        </p:txBody>
      </p:sp>
      <p:sp>
        <p:nvSpPr>
          <p:cNvPr id="7" name="Text 4"/>
          <p:cNvSpPr/>
          <p:nvPr/>
        </p:nvSpPr>
        <p:spPr>
          <a:xfrm>
            <a:off x="6645950" y="4627959"/>
            <a:ext cx="719066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Scheduler uses a policy (Round Robin / SJF)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6645950" y="5070158"/>
            <a:ext cx="719066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CPU time dynamically shared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6645950" y="5773222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1A561C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Progress Rule: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6645950" y="6538674"/>
            <a:ext cx="719066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Progress updates continuously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6645950" y="6980872"/>
            <a:ext cx="719066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Upon completion, resources return to the system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8069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DDAFA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What We Learned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93790" y="1475184"/>
            <a:ext cx="10269260" cy="978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700"/>
              </a:lnSpc>
              <a:buNone/>
            </a:pPr>
            <a:r>
              <a:rPr lang="en-US" sz="61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Key Insights &amp; Observations</a:t>
            </a:r>
            <a:endParaRPr lang="en-US" sz="6150" dirty="0"/>
          </a:p>
        </p:txBody>
      </p:sp>
      <p:sp>
        <p:nvSpPr>
          <p:cNvPr id="4" name="Shape 2"/>
          <p:cNvSpPr/>
          <p:nvPr/>
        </p:nvSpPr>
        <p:spPr>
          <a:xfrm>
            <a:off x="793790" y="2793563"/>
            <a:ext cx="6407944" cy="2214205"/>
          </a:xfrm>
          <a:prstGeom prst="roundRect">
            <a:avLst>
              <a:gd name="adj" fmla="val 9220"/>
            </a:avLst>
          </a:prstGeom>
          <a:solidFill>
            <a:srgbClr val="CEE6FD"/>
          </a:solidFill>
          <a:ln/>
        </p:spPr>
      </p:sp>
      <p:sp>
        <p:nvSpPr>
          <p:cNvPr id="5" name="Shape 3"/>
          <p:cNvSpPr/>
          <p:nvPr/>
        </p:nvSpPr>
        <p:spPr>
          <a:xfrm>
            <a:off x="1020604" y="3020378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0540AD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07770" y="3207425"/>
            <a:ext cx="306110" cy="30611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20604" y="392763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CPU Control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20604" y="4418052"/>
            <a:ext cx="59543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CPU usage never exceeds 100%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7428548" y="2793563"/>
            <a:ext cx="6408063" cy="2214205"/>
          </a:xfrm>
          <a:prstGeom prst="roundRect">
            <a:avLst>
              <a:gd name="adj" fmla="val 9220"/>
            </a:avLst>
          </a:prstGeom>
          <a:solidFill>
            <a:srgbClr val="CEE6FD"/>
          </a:solidFill>
          <a:ln/>
        </p:spPr>
      </p:sp>
      <p:sp>
        <p:nvSpPr>
          <p:cNvPr id="10" name="Shape 7"/>
          <p:cNvSpPr/>
          <p:nvPr/>
        </p:nvSpPr>
        <p:spPr>
          <a:xfrm>
            <a:off x="7655362" y="3020378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921653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42528" y="3207425"/>
            <a:ext cx="306110" cy="30611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55362" y="392763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Memory Limits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7655362" y="4418052"/>
            <a:ext cx="59544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Memory always stays within 2048 MB</a:t>
            </a:r>
            <a:endParaRPr lang="en-US" sz="1750" dirty="0"/>
          </a:p>
        </p:txBody>
      </p:sp>
      <p:sp>
        <p:nvSpPr>
          <p:cNvPr id="14" name="Shape 10"/>
          <p:cNvSpPr/>
          <p:nvPr/>
        </p:nvSpPr>
        <p:spPr>
          <a:xfrm>
            <a:off x="793790" y="5234583"/>
            <a:ext cx="6407944" cy="2214205"/>
          </a:xfrm>
          <a:prstGeom prst="roundRect">
            <a:avLst>
              <a:gd name="adj" fmla="val 9220"/>
            </a:avLst>
          </a:prstGeom>
          <a:solidFill>
            <a:srgbClr val="CEE6FD"/>
          </a:solidFill>
          <a:ln/>
        </p:spPr>
      </p:sp>
      <p:sp>
        <p:nvSpPr>
          <p:cNvPr id="15" name="Shape 11"/>
          <p:cNvSpPr/>
          <p:nvPr/>
        </p:nvSpPr>
        <p:spPr>
          <a:xfrm>
            <a:off x="1020604" y="5461397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FF5000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07770" y="5648444"/>
            <a:ext cx="306110" cy="30611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20604" y="6368653"/>
            <a:ext cx="294286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Dynamic Competition</a:t>
            </a:r>
            <a:endParaRPr lang="en-US" sz="2200" dirty="0"/>
          </a:p>
        </p:txBody>
      </p:sp>
      <p:sp>
        <p:nvSpPr>
          <p:cNvPr id="18" name="Text 13"/>
          <p:cNvSpPr/>
          <p:nvPr/>
        </p:nvSpPr>
        <p:spPr>
          <a:xfrm>
            <a:off x="1020604" y="6859072"/>
            <a:ext cx="59543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Processes dynamically compete for resources</a:t>
            </a:r>
            <a:endParaRPr lang="en-US" sz="1750" dirty="0"/>
          </a:p>
        </p:txBody>
      </p:sp>
      <p:sp>
        <p:nvSpPr>
          <p:cNvPr id="19" name="Shape 14"/>
          <p:cNvSpPr/>
          <p:nvPr/>
        </p:nvSpPr>
        <p:spPr>
          <a:xfrm>
            <a:off x="7428548" y="5234583"/>
            <a:ext cx="6408063" cy="2214205"/>
          </a:xfrm>
          <a:prstGeom prst="roundRect">
            <a:avLst>
              <a:gd name="adj" fmla="val 9220"/>
            </a:avLst>
          </a:prstGeom>
          <a:solidFill>
            <a:srgbClr val="CEE6FD"/>
          </a:solidFill>
          <a:ln/>
        </p:spPr>
      </p:sp>
      <p:sp>
        <p:nvSpPr>
          <p:cNvPr id="20" name="Shape 15"/>
          <p:cNvSpPr/>
          <p:nvPr/>
        </p:nvSpPr>
        <p:spPr>
          <a:xfrm>
            <a:off x="7655362" y="5461397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1A561C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842528" y="5648444"/>
            <a:ext cx="306110" cy="30611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655362" y="636865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Realistic Behavior</a:t>
            </a:r>
            <a:endParaRPr lang="en-US" sz="2200" dirty="0"/>
          </a:p>
        </p:txBody>
      </p:sp>
      <p:sp>
        <p:nvSpPr>
          <p:cNvPr id="23" name="Text 17"/>
          <p:cNvSpPr/>
          <p:nvPr/>
        </p:nvSpPr>
        <p:spPr>
          <a:xfrm>
            <a:off x="7655362" y="6859072"/>
            <a:ext cx="59544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Simulator accurately reflects OS behaviour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E4CCD12-3DC1-5341-96F4-8F7CBDD58B39}"/>
              </a:ext>
            </a:extLst>
          </p:cNvPr>
          <p:cNvSpPr txBox="1"/>
          <p:nvPr/>
        </p:nvSpPr>
        <p:spPr>
          <a:xfrm>
            <a:off x="579863" y="501805"/>
            <a:ext cx="533028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chemeClr val="tx2"/>
                </a:solidFill>
                <a:latin typeface="Instrument Sans Semi Bold" panose="020B0604020202020204" charset="0"/>
              </a:rPr>
              <a:t>Screen Shots: </a:t>
            </a:r>
            <a:endParaRPr lang="en-IN" sz="6000" dirty="0">
              <a:solidFill>
                <a:schemeClr val="tx2"/>
              </a:solidFill>
              <a:latin typeface="Instrument Sans Semi Bold" panose="020B060402020202020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6828B8-67BD-9567-C76A-531C9AFE91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7966" y="1683138"/>
            <a:ext cx="12054468" cy="6780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1744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2BB9961-4EFE-C97E-B5DF-E46E0EBFA0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888" y="780585"/>
            <a:ext cx="13024624" cy="7326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1506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793790" y="198155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8EEFC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Final Thoughts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2676049"/>
            <a:ext cx="11341298" cy="1417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150"/>
              </a:lnSpc>
              <a:buNone/>
            </a:pPr>
            <a:r>
              <a:rPr lang="en-US" sz="8900" dirty="0">
                <a:solidFill>
                  <a:srgbClr val="84C1FA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Conclusion</a:t>
            </a:r>
            <a:endParaRPr lang="en-US" sz="8900" dirty="0"/>
          </a:p>
        </p:txBody>
      </p:sp>
      <p:sp>
        <p:nvSpPr>
          <p:cNvPr id="6" name="Text 3"/>
          <p:cNvSpPr/>
          <p:nvPr/>
        </p:nvSpPr>
        <p:spPr>
          <a:xfrm>
            <a:off x="793790" y="4433888"/>
            <a:ext cx="13042821" cy="1814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Adaptive Resource Allocation Simulator demonstrates how operating systems efficiently manage multiple processes under limited CPU and memory. It visually shows real-time scheduling, resource sharing, and process state transitions — making complex OS concepts simple and intuitive.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483</Words>
  <Application>Microsoft Office PowerPoint</Application>
  <PresentationFormat>Custom</PresentationFormat>
  <Paragraphs>111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Instrument Sans Medium</vt:lpstr>
      <vt:lpstr>Arial</vt:lpstr>
      <vt:lpstr>Instrument Sans Semi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</dc:creator>
  <cp:lastModifiedBy>aryan0119aryan@hotmail.com</cp:lastModifiedBy>
  <cp:revision>3</cp:revision>
  <dcterms:created xsi:type="dcterms:W3CDTF">2025-12-04T07:12:49Z</dcterms:created>
  <dcterms:modified xsi:type="dcterms:W3CDTF">2025-12-04T07:31:39Z</dcterms:modified>
</cp:coreProperties>
</file>